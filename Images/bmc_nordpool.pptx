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9"/>
    <p:restoredTop sz="94641"/>
  </p:normalViewPr>
  <p:slideViewPr>
    <p:cSldViewPr snapToGrid="0" snapToObjects="1">
      <p:cViewPr varScale="1">
        <p:scale>
          <a:sx n="80" d="100"/>
          <a:sy n="80" d="100"/>
        </p:scale>
        <p:origin x="1178" y="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71" d="100"/>
          <a:sy n="171" d="100"/>
        </p:scale>
        <p:origin x="1288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wona Windekilde" userId="54beaf47-6b2b-482d-859a-a92e1aff1013" providerId="ADAL" clId="{4F002012-D440-44A2-B408-1CFC0EEB38E6}"/>
    <pc:docChg chg="modSld">
      <pc:chgData name="Iwona Windekilde" userId="54beaf47-6b2b-482d-859a-a92e1aff1013" providerId="ADAL" clId="{4F002012-D440-44A2-B408-1CFC0EEB38E6}" dt="2022-09-29T11:23:05.521" v="12" actId="20577"/>
      <pc:docMkLst>
        <pc:docMk/>
      </pc:docMkLst>
      <pc:sldChg chg="modSp mod">
        <pc:chgData name="Iwona Windekilde" userId="54beaf47-6b2b-482d-859a-a92e1aff1013" providerId="ADAL" clId="{4F002012-D440-44A2-B408-1CFC0EEB38E6}" dt="2022-09-29T11:23:05.521" v="12" actId="20577"/>
        <pc:sldMkLst>
          <pc:docMk/>
          <pc:sldMk cId="800889803" sldId="258"/>
        </pc:sldMkLst>
        <pc:spChg chg="mod">
          <ac:chgData name="Iwona Windekilde" userId="54beaf47-6b2b-482d-859a-a92e1aff1013" providerId="ADAL" clId="{4F002012-D440-44A2-B408-1CFC0EEB38E6}" dt="2022-09-29T11:23:05.521" v="12" actId="20577"/>
          <ac:spMkLst>
            <pc:docMk/>
            <pc:sldMk cId="800889803" sldId="258"/>
            <ac:spMk id="5" creationId="{CAE37D3E-D91C-9E45-84D5-E71D728AB0C2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A829326-EBB4-0441-AFD1-DC601D701F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AA8CF-F5B6-5B4E-BC1C-E00D5F0D5A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9A6D0A-B953-1A45-ADEA-97AF2A228AD1}" type="datetimeFigureOut">
              <a:rPr lang="pl-PL" smtClean="0"/>
              <a:t>29.09.2022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C6462-BC9F-5F46-9948-06199BD6D0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9024B-D6E2-5344-8395-269FA1E53E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F9545-7F12-A945-9BB0-7F8CED6851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3420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9" name="Shape 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0724895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277304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m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5">
            <a:extLst>
              <a:ext uri="{FF2B5EF4-FFF2-40B4-BE49-F238E27FC236}">
                <a16:creationId xmlns:a16="http://schemas.microsoft.com/office/drawing/2014/main" id="{F26B1B37-E356-DB49-97FE-5DA721A2F0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84547" y="547844"/>
            <a:ext cx="2437200" cy="4608262"/>
          </a:xfrm>
          <a:prstGeom prst="rect">
            <a:avLst/>
          </a:prstGeom>
          <a:ln w="25400">
            <a:solidFill>
              <a:srgbClr val="96CDEA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B960E905-E9BB-9944-83F6-8C7B3E52D37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24694" y="2865600"/>
            <a:ext cx="2437200" cy="2289601"/>
          </a:xfrm>
          <a:prstGeom prst="rect">
            <a:avLst/>
          </a:prstGeom>
          <a:ln w="25400">
            <a:solidFill>
              <a:srgbClr val="96CDEA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58F87794-5CAB-6A4A-BE8E-19BD80F39E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24694" y="546496"/>
            <a:ext cx="2437200" cy="2319441"/>
          </a:xfrm>
          <a:prstGeom prst="rect">
            <a:avLst/>
          </a:prstGeom>
          <a:ln w="25400">
            <a:solidFill>
              <a:srgbClr val="96CDEA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DA24DE58-436B-D145-B2AC-2C9AE6F8EDE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765394" y="546495"/>
            <a:ext cx="2419200" cy="4609349"/>
          </a:xfrm>
          <a:prstGeom prst="rect">
            <a:avLst/>
          </a:prstGeom>
          <a:ln w="25400">
            <a:solidFill>
              <a:srgbClr val="96CDEA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4" name="Shape 28">
            <a:extLst>
              <a:ext uri="{FF2B5EF4-FFF2-40B4-BE49-F238E27FC236}">
                <a16:creationId xmlns:a16="http://schemas.microsoft.com/office/drawing/2014/main" id="{9C101CE5-3880-C94C-91A2-6BF18A27A3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38213" y="5155200"/>
            <a:ext cx="6046381" cy="1692001"/>
          </a:xfrm>
          <a:prstGeom prst="rect">
            <a:avLst/>
          </a:prstGeom>
          <a:ln w="25400">
            <a:solidFill>
              <a:srgbClr val="96CDEA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686CC273-4374-A34C-9797-FA59FAAAE3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44400" y="546495"/>
            <a:ext cx="2437200" cy="2320833"/>
          </a:xfrm>
          <a:prstGeom prst="rect">
            <a:avLst/>
          </a:prstGeom>
          <a:ln w="25400">
            <a:solidFill>
              <a:srgbClr val="96CDEA"/>
            </a:solidFill>
          </a:ln>
        </p:spPr>
        <p:txBody>
          <a:bodyPr/>
          <a:lstStyle/>
          <a:p>
            <a:endParaRPr dirty="0"/>
          </a:p>
        </p:txBody>
      </p:sp>
      <p:pic>
        <p:nvPicPr>
          <p:cNvPr id="15" name="image1.png" descr="C:\Users\boris\Dropbox\BMFoundry\02 BMWebApp\DEsign\Materials\report icons\report_ch.png">
            <a:extLst>
              <a:ext uri="{FF2B5EF4-FFF2-40B4-BE49-F238E27FC236}">
                <a16:creationId xmlns:a16="http://schemas.microsoft.com/office/drawing/2014/main" id="{0AC4AE38-CB1D-2F43-A8C9-D0EF2F495B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71553" y="2839888"/>
            <a:ext cx="311994" cy="3119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image2.png" descr="C:\Users\boris\Dropbox\BMFoundry\02 BMWebApp\DEsign\Materials\report icons\report_cr.png">
            <a:extLst>
              <a:ext uri="{FF2B5EF4-FFF2-40B4-BE49-F238E27FC236}">
                <a16:creationId xmlns:a16="http://schemas.microsoft.com/office/drawing/2014/main" id="{2E38A158-5E26-CC49-8FAD-F64934F915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71553" y="514750"/>
            <a:ext cx="311994" cy="3119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image3.png" descr="C:\Users\boris\Dropbox\BMFoundry\02 BMWebApp\DEsign\Materials\report icons\report_cs.png">
            <a:extLst>
              <a:ext uri="{FF2B5EF4-FFF2-40B4-BE49-F238E27FC236}">
                <a16:creationId xmlns:a16="http://schemas.microsoft.com/office/drawing/2014/main" id="{FB196B93-52D1-274A-BFC3-34AF33DCA5E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34832" y="536869"/>
            <a:ext cx="311994" cy="3119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image4.png" descr="C:\Users\boris\Dropbox\BMFoundry\02 BMWebApp\DEsign\Materials\report icons\report_cst.png">
            <a:extLst>
              <a:ext uri="{FF2B5EF4-FFF2-40B4-BE49-F238E27FC236}">
                <a16:creationId xmlns:a16="http://schemas.microsoft.com/office/drawing/2014/main" id="{974D1CE8-4A24-A749-AD7C-F76F0A1BBF6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33307" y="5157192"/>
            <a:ext cx="311994" cy="3119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5.png" descr="C:\Users\boris\Dropbox\BMFoundry\02 BMWebApp\DEsign\Materials\report icons\report_ka.png">
            <a:extLst>
              <a:ext uri="{FF2B5EF4-FFF2-40B4-BE49-F238E27FC236}">
                <a16:creationId xmlns:a16="http://schemas.microsoft.com/office/drawing/2014/main" id="{4D8193DD-9C5A-7E41-B81A-AF0269328E1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559878" y="563927"/>
            <a:ext cx="311994" cy="3119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image7.png" descr="C:\Users\boris\Dropbox\BMFoundry\02 BMWebApp\DEsign\Materials\report icons\report_kr.png">
            <a:extLst>
              <a:ext uri="{FF2B5EF4-FFF2-40B4-BE49-F238E27FC236}">
                <a16:creationId xmlns:a16="http://schemas.microsoft.com/office/drawing/2014/main" id="{965DEEF5-7F02-404D-BD27-DC60DDF34F0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512728" y="2852935"/>
            <a:ext cx="311994" cy="3119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image8.png" descr="C:\Users\boris\Dropbox\BMFoundry\02 BMWebApp\DEsign\Materials\report icons\report_rs.png">
            <a:extLst>
              <a:ext uri="{FF2B5EF4-FFF2-40B4-BE49-F238E27FC236}">
                <a16:creationId xmlns:a16="http://schemas.microsoft.com/office/drawing/2014/main" id="{663BEF5B-CBAA-AC42-AE9B-2AE3D23806A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913337" y="5157192"/>
            <a:ext cx="311994" cy="311994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image9.png" descr="C:\Users\boris\Dropbox\BMFoundry\02 BMWebApp\DEsign\Materials\report icons\report_vp.png">
            <a:extLst>
              <a:ext uri="{FF2B5EF4-FFF2-40B4-BE49-F238E27FC236}">
                <a16:creationId xmlns:a16="http://schemas.microsoft.com/office/drawing/2014/main" id="{4A9DF0C9-7B3A-324C-8FF1-31526B0201E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17687" y="536869"/>
            <a:ext cx="311994" cy="311994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image6.png" descr="C:\Users\boris\Dropbox\BMFoundry\02 BMWebApp\DEsign\Materials\report icons\report_kp.png">
            <a:extLst>
              <a:ext uri="{FF2B5EF4-FFF2-40B4-BE49-F238E27FC236}">
                <a16:creationId xmlns:a16="http://schemas.microsoft.com/office/drawing/2014/main" id="{28F339DE-E274-CE4F-B408-8B6B74D3778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77858" y="563927"/>
            <a:ext cx="311994" cy="311994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Shape 26">
            <a:extLst>
              <a:ext uri="{FF2B5EF4-FFF2-40B4-BE49-F238E27FC236}">
                <a16:creationId xmlns:a16="http://schemas.microsoft.com/office/drawing/2014/main" id="{DE59AB39-557A-EE44-B3D5-C66DA1D3C7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44400" y="2866518"/>
            <a:ext cx="2437200" cy="2287596"/>
          </a:xfrm>
          <a:prstGeom prst="rect">
            <a:avLst/>
          </a:prstGeom>
          <a:ln w="25400">
            <a:solidFill>
              <a:srgbClr val="96CDEA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3" name="Shape 27">
            <a:extLst>
              <a:ext uri="{FF2B5EF4-FFF2-40B4-BE49-F238E27FC236}">
                <a16:creationId xmlns:a16="http://schemas.microsoft.com/office/drawing/2014/main" id="{02F31581-2E34-7A48-B185-6E86DDE384B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00" y="5155200"/>
            <a:ext cx="6131013" cy="1691650"/>
          </a:xfrm>
          <a:prstGeom prst="rect">
            <a:avLst/>
          </a:prstGeom>
          <a:ln w="25400">
            <a:solidFill>
              <a:srgbClr val="96CDEA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8" name="Shape 31">
            <a:extLst>
              <a:ext uri="{FF2B5EF4-FFF2-40B4-BE49-F238E27FC236}">
                <a16:creationId xmlns:a16="http://schemas.microsoft.com/office/drawing/2014/main" id="{863C3863-C8A4-2E41-A64B-2EF4D61696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00" y="546495"/>
            <a:ext cx="2437200" cy="4607619"/>
          </a:xfrm>
          <a:prstGeom prst="rect">
            <a:avLst/>
          </a:prstGeom>
          <a:ln w="25400">
            <a:solidFill>
              <a:srgbClr val="96CDEA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3639BF-24D3-054C-821E-9728AA2038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pl-PL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88871F-CD64-C445-B3DB-B55CAF85DC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pl-PL" dirty="0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2">
            <a:extLst>
              <a:ext uri="{FF2B5EF4-FFF2-40B4-BE49-F238E27FC236}">
                <a16:creationId xmlns:a16="http://schemas.microsoft.com/office/drawing/2014/main" id="{83D0BE0F-5E46-C341-A951-C3DF8EC0E808}"/>
              </a:ext>
            </a:extLst>
          </p:cNvPr>
          <p:cNvSpPr/>
          <p:nvPr userDrawn="1"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8" name="image10.pdf">
            <a:extLst>
              <a:ext uri="{FF2B5EF4-FFF2-40B4-BE49-F238E27FC236}">
                <a16:creationId xmlns:a16="http://schemas.microsoft.com/office/drawing/2014/main" id="{8C80D696-49F7-A64C-9728-05B0E05EB88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9511" y="128523"/>
            <a:ext cx="1512169" cy="29163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F48F05-EC8E-D649-B6A2-3331A5C8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852" y="124494"/>
            <a:ext cx="7182296" cy="312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</a:t>
            </a:r>
            <a:endParaRPr 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ln>
            <a:noFill/>
          </a:ln>
          <a:solidFill>
            <a:schemeClr val="bg1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ln>
            <a:noFill/>
          </a:ln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ln>
            <a:noFill/>
          </a:ln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ln>
            <a:noFill/>
          </a:ln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ln>
            <a:noFill/>
          </a:ln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ln>
            <a:noFill/>
          </a:ln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ln>
            <a:noFill/>
          </a:ln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ln>
            <a:noFill/>
          </a:ln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1" i="0" u="none" strike="noStrike" cap="none" spc="0" baseline="0">
          <a:ln>
            <a:noFill/>
          </a:ln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647700" marR="0" indent="-1905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–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066800" marR="0" indent="-1524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524000" marR="0" indent="-1524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–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1981200" marR="0" indent="-1524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»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423160" marR="0" indent="-13716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2880360" marR="0" indent="-13716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337559" marR="0" indent="-137159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3794759" marR="0" indent="-137159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E37D3E-D91C-9E45-84D5-E71D728AB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rPr sz="1300" b="1"/>
              <a:t>Value Propositions</a:t>
            </a:r>
          </a:p>
          <a:p>
            <a:pPr>
              <a:spcBef>
                <a:spcPts val="200"/>
              </a:spcBef>
            </a:pPr>
            <a:r>
              <a:rPr sz="1150" b="0"/>
              <a:t>• Traders: liquid, neutral price formation with guaranteed settlement</a:t>
            </a:r>
          </a:p>
          <a:p>
            <a:pPr>
              <a:spcBef>
                <a:spcPts val="200"/>
              </a:spcBef>
            </a:pPr>
            <a:r>
              <a:rPr sz="1150" b="0"/>
              <a:t>• TSOs: efficient congestion management</a:t>
            </a:r>
          </a:p>
          <a:p>
            <a:pPr>
              <a:spcBef>
                <a:spcPts val="200"/>
              </a:spcBef>
            </a:pPr>
            <a:r>
              <a:rPr sz="1150" b="0"/>
              <a:t>• Society: transparent reference price</a:t>
            </a:r>
          </a:p>
          <a:p>
            <a:pPr>
              <a:spcBef>
                <a:spcPts val="200"/>
              </a:spcBef>
            </a:pPr>
            <a:r>
              <a:rPr sz="1150" b="0"/>
              <a:t>• Data users: authoritative price data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9BFCC1-A4B1-7C4D-A09C-0A7BDD570A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wrap="square"/>
          <a:lstStyle/>
          <a:p>
            <a:r>
              <a:rPr sz="1300" b="1"/>
              <a:t>Channels</a:t>
            </a:r>
            <a:endParaRPr lang="pl-PL" dirty="0" err="1"/>
          </a:p>
          <a:p>
            <a:pPr>
              <a:spcBef>
                <a:spcPts val="200"/>
              </a:spcBef>
            </a:pPr>
            <a:r>
              <a:rPr sz="1150" b="0"/>
              <a:t>• Trading platform and APIs</a:t>
            </a:r>
          </a:p>
          <a:p>
            <a:pPr>
              <a:spcBef>
                <a:spcPts val="200"/>
              </a:spcBef>
            </a:pPr>
            <a:r>
              <a:rPr sz="1150" b="0"/>
              <a:t>• Data portal</a:t>
            </a:r>
          </a:p>
          <a:p>
            <a:pPr>
              <a:spcBef>
                <a:spcPts val="200"/>
              </a:spcBef>
            </a:pPr>
            <a:r>
              <a:rPr sz="1150" b="0"/>
              <a:t>• Clearing</a:t>
            </a:r>
          </a:p>
          <a:p>
            <a:pPr>
              <a:spcBef>
                <a:spcPts val="200"/>
              </a:spcBef>
            </a:pPr>
            <a:r>
              <a:rPr sz="1150" b="0"/>
              <a:t>• Six local offices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B59929-7E9F-E241-9FC5-64B62FA8D5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wrap="square"/>
          <a:lstStyle/>
          <a:p>
            <a:r>
              <a:rPr sz="1300" b="1"/>
              <a:t>Customer Relationships</a:t>
            </a:r>
            <a:endParaRPr lang="pl-PL" dirty="0" err="1"/>
          </a:p>
          <a:p>
            <a:pPr>
              <a:spcBef>
                <a:spcPts val="200"/>
              </a:spcBef>
            </a:pPr>
            <a:r>
              <a:rPr sz="1150" b="0"/>
              <a:t>• Membership contracts</a:t>
            </a:r>
          </a:p>
          <a:p>
            <a:pPr>
              <a:spcBef>
                <a:spcPts val="200"/>
              </a:spcBef>
            </a:pPr>
            <a:r>
              <a:rPr sz="1150" b="0"/>
              <a:t>• Market managers, support desk</a:t>
            </a:r>
          </a:p>
          <a:p>
            <a:pPr>
              <a:spcBef>
                <a:spcPts val="200"/>
              </a:spcBef>
            </a:pPr>
            <a:r>
              <a:rPr sz="1150" b="0"/>
              <a:t>• Nord Pool Academy</a:t>
            </a:r>
          </a:p>
          <a:p>
            <a:pPr>
              <a:spcBef>
                <a:spcPts val="200"/>
              </a:spcBef>
            </a:pPr>
            <a:r>
              <a:rPr sz="1150" b="0"/>
              <a:t>• Self-service APIs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72760A3-2298-3547-8B71-8E1EDDB989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wrap="square"/>
          <a:lstStyle/>
          <a:p>
            <a:r>
              <a:rPr sz="1300" b="1"/>
              <a:t>Customer Segments</a:t>
            </a:r>
            <a:endParaRPr lang="pl-PL" dirty="0" err="1"/>
          </a:p>
          <a:p>
            <a:pPr>
              <a:spcBef>
                <a:spcPts val="200"/>
              </a:spcBef>
            </a:pPr>
            <a:r>
              <a:rPr sz="1150" b="0"/>
              <a:t>• Generators (sellers)</a:t>
            </a:r>
          </a:p>
          <a:p>
            <a:pPr>
              <a:spcBef>
                <a:spcPts val="200"/>
              </a:spcBef>
            </a:pPr>
            <a:r>
              <a:rPr sz="1150" b="0"/>
              <a:t>• Retailers, industrials (buyers)</a:t>
            </a:r>
          </a:p>
          <a:p>
            <a:pPr>
              <a:spcBef>
                <a:spcPts val="200"/>
              </a:spcBef>
            </a:pPr>
            <a:r>
              <a:rPr sz="1150" b="0"/>
              <a:t>• Traders</a:t>
            </a:r>
          </a:p>
          <a:p>
            <a:pPr>
              <a:spcBef>
                <a:spcPts val="200"/>
              </a:spcBef>
            </a:pPr>
            <a:r>
              <a:rPr sz="1150" b="0"/>
              <a:t>• Small participants, aggregators</a:t>
            </a:r>
          </a:p>
          <a:p>
            <a:pPr>
              <a:spcBef>
                <a:spcPts val="200"/>
              </a:spcBef>
            </a:pPr>
            <a:r>
              <a:rPr sz="1150" b="0"/>
              <a:t>• Data customers</a:t>
            </a:r>
          </a:p>
          <a:p>
            <a:pPr>
              <a:spcBef>
                <a:spcPts val="200"/>
              </a:spcBef>
            </a:pPr>
            <a:r>
              <a:rPr sz="1150" b="0"/>
              <a:t>• Consulting clients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B15EED-4E69-7240-B958-ABA6228B1B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rPr sz="1300" b="1"/>
              <a:t>Revenue Streams</a:t>
            </a:r>
            <a:endParaRPr lang="pl-PL" dirty="0" err="1"/>
          </a:p>
          <a:p>
            <a:pPr>
              <a:spcBef>
                <a:spcPts val="200"/>
              </a:spcBef>
            </a:pPr>
            <a:r>
              <a:rPr sz="1150" b="0"/>
              <a:t>• Annual fees (€21,500; €0 for small participants)</a:t>
            </a:r>
          </a:p>
          <a:p>
            <a:pPr>
              <a:spcBef>
                <a:spcPts val="200"/>
              </a:spcBef>
            </a:pPr>
            <a:r>
              <a:rPr sz="1150" b="0"/>
              <a:t>• Per-MWh trading + clearing fees (€0.055/MWh day-ahead)</a:t>
            </a:r>
          </a:p>
          <a:p>
            <a:pPr>
              <a:spcBef>
                <a:spcPts val="200"/>
              </a:spcBef>
            </a:pPr>
            <a:r>
              <a:rPr sz="1150" b="0"/>
              <a:t>• Data licences (€600–3,500/yr); consulting, academy</a:t>
            </a:r>
          </a:p>
          <a:p>
            <a:pPr>
              <a:spcBef>
                <a:spcPts val="200"/>
              </a:spcBef>
            </a:pPr>
            <a:r>
              <a:rPr sz="1150" b="0"/>
              <a:t>• Note: futures revenue accrues to the Euronext group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CE384-97D1-544B-807B-598510C6ED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r>
              <a:rPr sz="1300" b="1"/>
              <a:t>Key Activities</a:t>
            </a:r>
            <a:endParaRPr lang="pl-PL" dirty="0" err="1"/>
          </a:p>
          <a:p>
            <a:pPr>
              <a:spcBef>
                <a:spcPts val="200"/>
              </a:spcBef>
            </a:pPr>
            <a:r>
              <a:rPr sz="1150" b="0"/>
              <a:t>• Day-ahead auction, intraday trading</a:t>
            </a:r>
          </a:p>
          <a:p>
            <a:pPr>
              <a:spcBef>
                <a:spcPts val="200"/>
              </a:spcBef>
            </a:pPr>
            <a:r>
              <a:rPr sz="1150" b="0"/>
              <a:t>• System price calculation</a:t>
            </a:r>
          </a:p>
          <a:p>
            <a:pPr>
              <a:spcBef>
                <a:spcPts val="200"/>
              </a:spcBef>
            </a:pPr>
            <a:r>
              <a:rPr sz="1150" b="0"/>
              <a:t>• Clearing and settlement (CCP)</a:t>
            </a:r>
          </a:p>
          <a:p>
            <a:pPr>
              <a:spcBef>
                <a:spcPts val="200"/>
              </a:spcBef>
            </a:pPr>
            <a:r>
              <a:rPr sz="1150" b="0"/>
              <a:t>• Market surveillance (REMIT)</a:t>
            </a:r>
          </a:p>
          <a:p>
            <a:pPr>
              <a:spcBef>
                <a:spcPts val="200"/>
              </a:spcBef>
            </a:pPr>
            <a:r>
              <a:rPr sz="1150" b="0"/>
              <a:t>• Data services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80FFA2-4FA0-9D49-9304-88F04F34B0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r>
              <a:rPr sz="1300" b="1"/>
              <a:t>Key Resources</a:t>
            </a:r>
            <a:endParaRPr lang="pl-PL" dirty="0" err="1"/>
          </a:p>
          <a:p>
            <a:pPr>
              <a:spcBef>
                <a:spcPts val="200"/>
              </a:spcBef>
            </a:pPr>
            <a:r>
              <a:rPr sz="1150" b="0"/>
              <a:t>• NEMO designations (16 countries)</a:t>
            </a:r>
          </a:p>
          <a:p>
            <a:pPr>
              <a:spcBef>
                <a:spcPts val="200"/>
              </a:spcBef>
            </a:pPr>
            <a:r>
              <a:rPr sz="1150" b="0"/>
              <a:t>• Trading and clearing systems</a:t>
            </a:r>
          </a:p>
          <a:p>
            <a:pPr>
              <a:spcBef>
                <a:spcPts val="200"/>
              </a:spcBef>
            </a:pPr>
            <a:r>
              <a:rPr sz="1150" b="0"/>
              <a:t>• ~30 years of price data</a:t>
            </a:r>
          </a:p>
          <a:p>
            <a:pPr>
              <a:spcBef>
                <a:spcPts val="200"/>
              </a:spcBef>
            </a:pPr>
            <a:r>
              <a:rPr sz="1150" b="0"/>
              <a:t>• Reference status of the system price</a:t>
            </a:r>
          </a:p>
          <a:p>
            <a:pPr>
              <a:spcBef>
                <a:spcPts val="200"/>
              </a:spcBef>
            </a:pPr>
            <a:r>
              <a:rPr sz="1150" b="0"/>
              <a:t>• ~150 staff; member trust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0467F3-E3FD-F148-AB23-8784DB1CA72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wrap="square"/>
          <a:lstStyle/>
          <a:p>
            <a:r>
              <a:rPr sz="1300" b="1"/>
              <a:t>Cost Structure</a:t>
            </a:r>
            <a:endParaRPr lang="pl-PL" dirty="0" err="1"/>
          </a:p>
          <a:p>
            <a:pPr>
              <a:spcBef>
                <a:spcPts val="200"/>
              </a:spcBef>
            </a:pPr>
            <a:r>
              <a:rPr sz="1150" b="0"/>
              <a:t>• Fixed-heavy IT and platform development</a:t>
            </a:r>
          </a:p>
          <a:p>
            <a:pPr>
              <a:spcBef>
                <a:spcPts val="200"/>
              </a:spcBef>
            </a:pPr>
            <a:r>
              <a:rPr sz="1150" b="0"/>
              <a:t>• Staff (~150); compliance and surveillance</a:t>
            </a:r>
          </a:p>
          <a:p>
            <a:pPr>
              <a:spcBef>
                <a:spcPts val="200"/>
              </a:spcBef>
            </a:pPr>
            <a:r>
              <a:rPr sz="1150" b="0"/>
              <a:t>• Clearing risk capital</a:t>
            </a:r>
          </a:p>
          <a:p>
            <a:pPr>
              <a:spcBef>
                <a:spcPts val="200"/>
              </a:spcBef>
            </a:pPr>
            <a:r>
              <a:rPr sz="1150" b="0"/>
              <a:t>• Shared SDAC costs (split with TSOs under CACM)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0366CA7-DF1A-634F-8641-1CD8CC926C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wrap="square"/>
          <a:lstStyle/>
          <a:p>
            <a:r>
              <a:rPr sz="1300" b="1"/>
              <a:t>Key Partnerships</a:t>
            </a:r>
            <a:endParaRPr lang="pl-PL" dirty="0" err="1"/>
          </a:p>
          <a:p>
            <a:pPr>
              <a:spcBef>
                <a:spcPts val="200"/>
              </a:spcBef>
            </a:pPr>
            <a:r>
              <a:rPr sz="1150" b="0"/>
              <a:t>• Euronext (66%): tech, capital, Euronext Clearing</a:t>
            </a:r>
          </a:p>
          <a:p>
            <a:pPr>
              <a:spcBef>
                <a:spcPts val="200"/>
              </a:spcBef>
            </a:pPr>
            <a:r>
              <a:rPr sz="1150" b="0"/>
              <a:t>• Owner TSOs (34%): Statnett, Svenska kraftnät, EPSO-G</a:t>
            </a:r>
          </a:p>
          <a:p>
            <a:pPr>
              <a:spcBef>
                <a:spcPts val="200"/>
              </a:spcBef>
            </a:pPr>
            <a:r>
              <a:rPr sz="1150" b="0"/>
              <a:t>• Non-owner coupling TSOs: capacity data</a:t>
            </a:r>
          </a:p>
          <a:p>
            <a:pPr>
              <a:spcBef>
                <a:spcPts val="200"/>
              </a:spcBef>
            </a:pPr>
            <a:r>
              <a:rPr sz="1150" b="0"/>
              <a:t>• Other NEMOs (SDAC partners)</a:t>
            </a:r>
          </a:p>
          <a:p>
            <a:pPr>
              <a:spcBef>
                <a:spcPts val="200"/>
              </a:spcBef>
            </a:pPr>
            <a:r>
              <a:rPr sz="1150" b="0"/>
              <a:t>• Regulators (NEMO designation)</a:t>
            </a:r>
          </a:p>
          <a:p>
            <a:pPr>
              <a:spcBef>
                <a:spcPts val="200"/>
              </a:spcBef>
            </a:pPr>
            <a:r>
              <a:rPr sz="1150" b="0"/>
              <a:t>• Banks (collateral, settlement)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F055A8-6300-6A40-BFCA-AE775E02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000" b="1"/>
              <a:t>Business Model Canvas: Nord Pool (Euronext × TSO alliance)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D659BE-34F5-624B-945E-5B72AEED0553}"/>
              </a:ext>
            </a:extLst>
          </p:cNvPr>
          <p:cNvSpPr txBox="1"/>
          <p:nvPr/>
        </p:nvSpPr>
        <p:spPr>
          <a:xfrm>
            <a:off x="728420" y="821410"/>
            <a:ext cx="9239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l-PL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088980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canvas_template">
  <a:themeElements>
    <a:clrScheme name="canvas_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anvas_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anvas_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anvas_template">
  <a:themeElements>
    <a:clrScheme name="canvas_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anvas_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anvas_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canvas_template</vt:lpstr>
      <vt:lpstr>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Iwona Maria Windekilde</dc:creator>
  <cp:lastModifiedBy>Iwona Windekilde</cp:lastModifiedBy>
  <cp:revision>23</cp:revision>
  <dcterms:modified xsi:type="dcterms:W3CDTF">2022-09-29T11:23:09Z</dcterms:modified>
</cp:coreProperties>
</file>